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40288" cy="42479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42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8" autoAdjust="0"/>
    <p:restoredTop sz="94660"/>
  </p:normalViewPr>
  <p:slideViewPr>
    <p:cSldViewPr snapToGrid="0">
      <p:cViewPr varScale="1">
        <p:scale>
          <a:sx n="22" d="100"/>
          <a:sy n="22" d="100"/>
        </p:scale>
        <p:origin x="3381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FB9E6E9-5ED4-4635-8D9D-452D839A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Project title and group nickname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58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9658FA-8A8A-4D5F-BD9A-A76458DD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132701"/>
            <a:ext cx="30240288" cy="427453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88437" y="2193808"/>
            <a:ext cx="25851851" cy="1722203"/>
          </a:xfrm>
          <a:prstGeom prst="rect">
            <a:avLst/>
          </a:prstGeom>
          <a:solidFill>
            <a:srgbClr val="084294">
              <a:alpha val="20000"/>
            </a:srgb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Project title and group nickname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7DBB5A-0366-44B4-8123-EA96E6BAAE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41282" y="428290"/>
            <a:ext cx="3531036" cy="35310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7226FA-7422-4D42-92C9-77184B81E9F5}"/>
              </a:ext>
            </a:extLst>
          </p:cNvPr>
          <p:cNvSpPr txBox="1"/>
          <p:nvPr userDrawn="1"/>
        </p:nvSpPr>
        <p:spPr>
          <a:xfrm>
            <a:off x="4388437" y="209541"/>
            <a:ext cx="25851851" cy="159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altLang="zh-CN" sz="4400" i="0" dirty="0">
                <a:solidFill>
                  <a:srgbClr val="084294"/>
                </a:solidFill>
                <a:latin typeface="Comic Sans MS" panose="030F0702030302020204" pitchFamily="66" charset="0"/>
              </a:rPr>
              <a:t>Excellent Course Project Demonstration </a:t>
            </a:r>
            <a:r>
              <a:rPr lang="zh-CN" altLang="en-US" sz="4400" i="0" dirty="0">
                <a:solidFill>
                  <a:srgbClr val="084294"/>
                </a:solidFill>
                <a:latin typeface="Comic Sans MS" panose="030F0702030302020204" pitchFamily="66" charset="0"/>
              </a:rPr>
              <a:t>优秀课程项目展示</a:t>
            </a:r>
            <a:endParaRPr lang="en-US" altLang="zh-CN" sz="4400" i="0" dirty="0">
              <a:solidFill>
                <a:srgbClr val="084294"/>
              </a:solidFill>
              <a:latin typeface="Comic Sans MS" panose="030F0702030302020204" pitchFamily="66" charset="0"/>
            </a:endParaRPr>
          </a:p>
          <a:p>
            <a:pPr algn="ctr">
              <a:lnSpc>
                <a:spcPct val="114000"/>
              </a:lnSpc>
            </a:pPr>
            <a:r>
              <a:rPr lang="en-US" altLang="zh-CN" sz="4400" i="0" dirty="0">
                <a:solidFill>
                  <a:srgbClr val="084294"/>
                </a:solidFill>
                <a:latin typeface="Comic Sans MS" panose="030F0702030302020204" pitchFamily="66" charset="0"/>
              </a:rPr>
              <a:t>SI100B: Introduction to Information Science and Technology《</a:t>
            </a:r>
            <a:r>
              <a:rPr lang="zh-CN" altLang="en-US" sz="4400" i="0" dirty="0">
                <a:solidFill>
                  <a:srgbClr val="084294"/>
                </a:solidFill>
                <a:latin typeface="Comic Sans MS" panose="030F0702030302020204" pitchFamily="66" charset="0"/>
              </a:rPr>
              <a:t>信息科学与技术导论</a:t>
            </a:r>
            <a:r>
              <a:rPr lang="en-US" altLang="zh-CN" sz="4400" i="0" dirty="0">
                <a:solidFill>
                  <a:srgbClr val="084294"/>
                </a:solidFill>
                <a:latin typeface="Comic Sans MS" panose="030F0702030302020204" pitchFamily="66" charset="0"/>
              </a:rPr>
              <a:t>》</a:t>
            </a:r>
          </a:p>
        </p:txBody>
      </p:sp>
    </p:spTree>
    <p:extLst>
      <p:ext uri="{BB962C8B-B14F-4D97-AF65-F5344CB8AC3E}">
        <p14:creationId xmlns:p14="http://schemas.microsoft.com/office/powerpoint/2010/main" val="353892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3024012" rtl="0" eaLnBrk="1" latinLnBrk="0" hangingPunct="1">
        <a:lnSpc>
          <a:spcPct val="90000"/>
        </a:lnSpc>
        <a:spcBef>
          <a:spcPct val="0"/>
        </a:spcBef>
        <a:buNone/>
        <a:defRPr sz="9600" kern="1200">
          <a:solidFill>
            <a:srgbClr val="084294"/>
          </a:solidFill>
          <a:latin typeface="Comic Sans MS" panose="030F0702030302020204" pitchFamily="66" charset="0"/>
          <a:ea typeface="+mj-ea"/>
          <a:cs typeface="+mj-cs"/>
        </a:defRPr>
      </a:lvl1pPr>
    </p:titleStyle>
    <p:bodyStyle>
      <a:lvl1pPr marL="756003" indent="-756003" algn="l" defTabSz="3024012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009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80015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2021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8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8316034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A5E44A-9CA6-4FEC-8461-03601C5C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378946-A99F-4D88-8262-F63D359C88EE}"/>
              </a:ext>
            </a:extLst>
          </p:cNvPr>
          <p:cNvSpPr/>
          <p:nvPr/>
        </p:nvSpPr>
        <p:spPr>
          <a:xfrm>
            <a:off x="480730" y="4738913"/>
            <a:ext cx="14220000" cy="14400000"/>
          </a:xfrm>
          <a:prstGeom prst="roundRect">
            <a:avLst>
              <a:gd name="adj" fmla="val 2862"/>
            </a:avLst>
          </a:prstGeom>
          <a:noFill/>
          <a:ln w="76200">
            <a:solidFill>
              <a:srgbClr val="0842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441906-BCD1-4105-9C80-E32E6C50BB5E}"/>
              </a:ext>
            </a:extLst>
          </p:cNvPr>
          <p:cNvSpPr/>
          <p:nvPr/>
        </p:nvSpPr>
        <p:spPr>
          <a:xfrm>
            <a:off x="15452476" y="4738913"/>
            <a:ext cx="14220000" cy="8559800"/>
          </a:xfrm>
          <a:prstGeom prst="roundRect">
            <a:avLst>
              <a:gd name="adj" fmla="val 4939"/>
            </a:avLst>
          </a:prstGeom>
          <a:noFill/>
          <a:ln w="76200">
            <a:solidFill>
              <a:srgbClr val="0842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F686D3-2A7C-4E94-9AC6-1CD0D60DDBBD}"/>
              </a:ext>
            </a:extLst>
          </p:cNvPr>
          <p:cNvSpPr/>
          <p:nvPr/>
        </p:nvSpPr>
        <p:spPr>
          <a:xfrm>
            <a:off x="5414149" y="4345213"/>
            <a:ext cx="4353162" cy="787400"/>
          </a:xfrm>
          <a:prstGeom prst="roundRect">
            <a:avLst>
              <a:gd name="adj" fmla="val 25443"/>
            </a:avLst>
          </a:prstGeom>
          <a:solidFill>
            <a:srgbClr val="084294"/>
          </a:solidFill>
          <a:ln w="76200">
            <a:solidFill>
              <a:srgbClr val="0842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4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Overview</a:t>
            </a:r>
            <a:r>
              <a:rPr lang="en-US" altLang="zh-CN" sz="4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4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概述</a:t>
            </a:r>
            <a:endParaRPr lang="en-US" sz="4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7E399A2-B891-40BE-A822-AE363411C8D1}"/>
              </a:ext>
            </a:extLst>
          </p:cNvPr>
          <p:cNvSpPr/>
          <p:nvPr/>
        </p:nvSpPr>
        <p:spPr>
          <a:xfrm>
            <a:off x="480730" y="19999878"/>
            <a:ext cx="14220000" cy="22074400"/>
          </a:xfrm>
          <a:prstGeom prst="roundRect">
            <a:avLst>
              <a:gd name="adj" fmla="val 2862"/>
            </a:avLst>
          </a:prstGeom>
          <a:noFill/>
          <a:ln w="76200">
            <a:solidFill>
              <a:srgbClr val="0842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78D2EE7-16BC-432B-9028-A8156DB33F5C}"/>
              </a:ext>
            </a:extLst>
          </p:cNvPr>
          <p:cNvSpPr/>
          <p:nvPr/>
        </p:nvSpPr>
        <p:spPr>
          <a:xfrm>
            <a:off x="5695549" y="19568900"/>
            <a:ext cx="3790363" cy="787400"/>
          </a:xfrm>
          <a:prstGeom prst="roundRect">
            <a:avLst>
              <a:gd name="adj" fmla="val 25443"/>
            </a:avLst>
          </a:prstGeom>
          <a:solidFill>
            <a:srgbClr val="084294"/>
          </a:solidFill>
          <a:ln w="76200">
            <a:solidFill>
              <a:srgbClr val="0842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4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Design</a:t>
            </a:r>
            <a:r>
              <a:rPr lang="en-US" altLang="zh-CN" sz="4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4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设计</a:t>
            </a:r>
            <a:endParaRPr lang="en-US" sz="4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C4A5748-1BEE-4AF8-85C0-AE6064C7F75D}"/>
              </a:ext>
            </a:extLst>
          </p:cNvPr>
          <p:cNvSpPr/>
          <p:nvPr/>
        </p:nvSpPr>
        <p:spPr>
          <a:xfrm>
            <a:off x="20568348" y="4345213"/>
            <a:ext cx="3790363" cy="787400"/>
          </a:xfrm>
          <a:prstGeom prst="roundRect">
            <a:avLst>
              <a:gd name="adj" fmla="val 25443"/>
            </a:avLst>
          </a:prstGeom>
          <a:solidFill>
            <a:srgbClr val="084294"/>
          </a:solidFill>
          <a:ln w="76200">
            <a:solidFill>
              <a:srgbClr val="0842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4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Feature </a:t>
            </a:r>
            <a:r>
              <a:rPr lang="zh-CN" altLang="en-US" sz="4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特色</a:t>
            </a:r>
            <a:endParaRPr lang="en-US" sz="4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56CC21-74AE-4AB1-B980-B4532363A6E8}"/>
              </a:ext>
            </a:extLst>
          </p:cNvPr>
          <p:cNvSpPr/>
          <p:nvPr/>
        </p:nvSpPr>
        <p:spPr>
          <a:xfrm>
            <a:off x="15452476" y="14042322"/>
            <a:ext cx="14220000" cy="12249025"/>
          </a:xfrm>
          <a:prstGeom prst="roundRect">
            <a:avLst>
              <a:gd name="adj" fmla="val 2862"/>
            </a:avLst>
          </a:prstGeom>
          <a:noFill/>
          <a:ln w="76200">
            <a:solidFill>
              <a:srgbClr val="0842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C44781-797B-4D2E-984E-2F80A807545B}"/>
              </a:ext>
            </a:extLst>
          </p:cNvPr>
          <p:cNvSpPr/>
          <p:nvPr/>
        </p:nvSpPr>
        <p:spPr>
          <a:xfrm>
            <a:off x="20568348" y="13648623"/>
            <a:ext cx="3790363" cy="787400"/>
          </a:xfrm>
          <a:prstGeom prst="roundRect">
            <a:avLst>
              <a:gd name="adj" fmla="val 25443"/>
            </a:avLst>
          </a:prstGeom>
          <a:solidFill>
            <a:srgbClr val="084294"/>
          </a:solidFill>
          <a:ln w="76200">
            <a:solidFill>
              <a:srgbClr val="0842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4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Video </a:t>
            </a:r>
            <a:r>
              <a:rPr lang="en-US" altLang="zh-CN" sz="4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4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视频</a:t>
            </a:r>
            <a:endParaRPr lang="en-US" sz="4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4781170-67CF-40FA-9B8A-0871AC3139BA}"/>
              </a:ext>
            </a:extLst>
          </p:cNvPr>
          <p:cNvSpPr/>
          <p:nvPr/>
        </p:nvSpPr>
        <p:spPr>
          <a:xfrm>
            <a:off x="15452476" y="27100269"/>
            <a:ext cx="14220000" cy="14974009"/>
          </a:xfrm>
          <a:prstGeom prst="roundRect">
            <a:avLst>
              <a:gd name="adj" fmla="val 3103"/>
            </a:avLst>
          </a:prstGeom>
          <a:noFill/>
          <a:ln w="76200">
            <a:solidFill>
              <a:srgbClr val="0842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388762C-98FE-49BE-A4E1-EB8C8B780EED}"/>
              </a:ext>
            </a:extLst>
          </p:cNvPr>
          <p:cNvSpPr/>
          <p:nvPr/>
        </p:nvSpPr>
        <p:spPr>
          <a:xfrm>
            <a:off x="20568348" y="26685046"/>
            <a:ext cx="3790363" cy="787400"/>
          </a:xfrm>
          <a:prstGeom prst="roundRect">
            <a:avLst>
              <a:gd name="adj" fmla="val 25443"/>
            </a:avLst>
          </a:prstGeom>
          <a:solidFill>
            <a:srgbClr val="084294"/>
          </a:solidFill>
          <a:ln w="76200">
            <a:solidFill>
              <a:srgbClr val="0842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4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Team</a:t>
            </a:r>
            <a:r>
              <a:rPr lang="en-US" altLang="zh-CN" sz="4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4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队员</a:t>
            </a:r>
            <a:endParaRPr lang="en-US" sz="4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1A02F7-7D4A-4608-8DBE-DC614C0F8D4A}"/>
              </a:ext>
            </a:extLst>
          </p:cNvPr>
          <p:cNvSpPr txBox="1"/>
          <p:nvPr/>
        </p:nvSpPr>
        <p:spPr>
          <a:xfrm>
            <a:off x="1257402" y="5890202"/>
            <a:ext cx="1256745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 dirty="0">
                <a:latin typeface="Comic Sans MS" panose="030F0702030302020204" pitchFamily="66" charset="0"/>
              </a:rPr>
              <a:t>All fonts should be larger than 40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omic Sans MS" panose="030F0702030302020204" pitchFamily="66" charset="0"/>
              </a:rPr>
              <a:t>Put the overview picture of your design here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omic Sans MS" panose="030F0702030302020204" pitchFamily="66" charset="0"/>
              </a:rPr>
              <a:t>Brief the major characteristics of your design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omic Sans MS" panose="030F0702030302020204" pitchFamily="66" charset="0"/>
              </a:rPr>
              <a:t>Suggest to use English with some key words in </a:t>
            </a:r>
            <a:r>
              <a:rPr lang="en-US" altLang="zh-CN" sz="4000" dirty="0">
                <a:latin typeface="Comic Sans MS" panose="030F0702030302020204" pitchFamily="66" charset="0"/>
              </a:rPr>
              <a:t>Chinese for making this poster</a:t>
            </a: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37E70C-BB96-44E0-BC16-7CC908484D6B}"/>
              </a:ext>
            </a:extLst>
          </p:cNvPr>
          <p:cNvSpPr txBox="1"/>
          <p:nvPr/>
        </p:nvSpPr>
        <p:spPr>
          <a:xfrm>
            <a:off x="1257402" y="21109342"/>
            <a:ext cx="942277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omic Sans MS" panose="030F0702030302020204" pitchFamily="66" charset="0"/>
              </a:rPr>
              <a:t>Explain the functions of your design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omic Sans MS" panose="030F0702030302020204" pitchFamily="66" charset="0"/>
              </a:rPr>
              <a:t>How you achieve them?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omic Sans MS" panose="030F0702030302020204" pitchFamily="66" charset="0"/>
              </a:rPr>
              <a:t>What design steps have your taken?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 dirty="0">
                <a:latin typeface="Comic Sans MS" panose="030F0702030302020204" pitchFamily="66" charset="0"/>
              </a:rPr>
              <a:t>Show the key figures</a:t>
            </a: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9FC35B-4992-4514-AF6B-0CEEA677B975}"/>
              </a:ext>
            </a:extLst>
          </p:cNvPr>
          <p:cNvSpPr txBox="1"/>
          <p:nvPr/>
        </p:nvSpPr>
        <p:spPr>
          <a:xfrm>
            <a:off x="16127288" y="5547835"/>
            <a:ext cx="12917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omic Sans MS" panose="030F0702030302020204" pitchFamily="66" charset="0"/>
              </a:rPr>
              <a:t>Describe the most special features of your design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CCBE63-BDB5-476A-A3AC-A73DFC136C2E}"/>
              </a:ext>
            </a:extLst>
          </p:cNvPr>
          <p:cNvSpPr txBox="1"/>
          <p:nvPr/>
        </p:nvSpPr>
        <p:spPr>
          <a:xfrm>
            <a:off x="16127288" y="15146723"/>
            <a:ext cx="129173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omic Sans MS" panose="030F0702030302020204" pitchFamily="66" charset="0"/>
              </a:rPr>
              <a:t>Show the working modes of your design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omic Sans MS" panose="030F0702030302020204" pitchFamily="66" charset="0"/>
              </a:rPr>
              <a:t>Take some video, upload to some video website and shore the QR codes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668983-31E5-4D6A-8E65-D994AD53145C}"/>
              </a:ext>
            </a:extLst>
          </p:cNvPr>
          <p:cNvSpPr txBox="1"/>
          <p:nvPr/>
        </p:nvSpPr>
        <p:spPr>
          <a:xfrm>
            <a:off x="16127288" y="27887668"/>
            <a:ext cx="129173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omic Sans MS" panose="030F0702030302020204" pitchFamily="66" charset="0"/>
              </a:rPr>
              <a:t>Briefly introduce your teammates, including your team pictures, contributions in this project, hobbies, etc.</a:t>
            </a:r>
          </a:p>
        </p:txBody>
      </p:sp>
    </p:spTree>
    <p:extLst>
      <p:ext uri="{BB962C8B-B14F-4D97-AF65-F5344CB8AC3E}">
        <p14:creationId xmlns:p14="http://schemas.microsoft.com/office/powerpoint/2010/main" val="46367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</TotalTime>
  <Words>117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幼圆</vt:lpstr>
      <vt:lpstr>Arial</vt:lpstr>
      <vt:lpstr>Calibri</vt:lpstr>
      <vt:lpstr>Comic Sans MS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Junrui Liang</dc:creator>
  <cp:lastModifiedBy>Junrui Liang</cp:lastModifiedBy>
  <cp:revision>9</cp:revision>
  <dcterms:created xsi:type="dcterms:W3CDTF">2020-12-29T06:30:29Z</dcterms:created>
  <dcterms:modified xsi:type="dcterms:W3CDTF">2020-12-29T07:39:44Z</dcterms:modified>
</cp:coreProperties>
</file>